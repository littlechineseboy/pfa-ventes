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CA Brut vs CA Net par produit (DT)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Brut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101</c:v>
                </c:pt>
                <c:pt idx="1">
                  <c:v>102</c:v>
                </c:pt>
                <c:pt idx="2">
                  <c:v>103</c:v>
                </c:pt>
                <c:pt idx="3">
                  <c:v>104</c:v>
                </c:pt>
                <c:pt idx="4">
                  <c:v>105</c:v>
                </c:pt>
                <c:pt idx="5">
                  <c:v>106</c:v>
                </c:pt>
                <c:pt idx="6">
                  <c:v>107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</c:v>
                </c:pt>
                <c:pt idx="1">
                  <c:v>50</c:v>
                </c:pt>
                <c:pt idx="2">
                  <c:v>50</c:v>
                </c:pt>
                <c:pt idx="3">
                  <c:v>30</c:v>
                </c:pt>
                <c:pt idx="4">
                  <c:v>72</c:v>
                </c:pt>
                <c:pt idx="5">
                  <c:v>90</c:v>
                </c:pt>
                <c:pt idx="6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 Net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101</c:v>
                </c:pt>
                <c:pt idx="1">
                  <c:v>102</c:v>
                </c:pt>
                <c:pt idx="2">
                  <c:v>103</c:v>
                </c:pt>
                <c:pt idx="3">
                  <c:v>104</c:v>
                </c:pt>
                <c:pt idx="4">
                  <c:v>105</c:v>
                </c:pt>
                <c:pt idx="5">
                  <c:v>106</c:v>
                </c:pt>
                <c:pt idx="6">
                  <c:v>107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40.5</c:v>
                </c:pt>
                <c:pt idx="1">
                  <c:v>47.5</c:v>
                </c:pt>
                <c:pt idx="2">
                  <c:v>50</c:v>
                </c:pt>
                <c:pt idx="3">
                  <c:v>25.5</c:v>
                </c:pt>
                <c:pt idx="4">
                  <c:v>66.24</c:v>
                </c:pt>
                <c:pt idx="5">
                  <c:v>72</c:v>
                </c:pt>
                <c:pt idx="6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b9c857-6380-4f01-af7a-7a9e4de694e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Classement CA Net (DT)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Net</c:v>
                </c:pt>
              </c:strCache>
            </c:strRef>
          </c:tx>
          <c:spPr>
            <a:solidFill>
              <a:srgbClr val="E07B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104</c:v>
                </c:pt>
                <c:pt idx="1">
                  <c:v>101</c:v>
                </c:pt>
                <c:pt idx="2">
                  <c:v>102</c:v>
                </c:pt>
                <c:pt idx="3">
                  <c:v>103</c:v>
                </c:pt>
                <c:pt idx="4">
                  <c:v>105</c:v>
                </c:pt>
                <c:pt idx="5">
                  <c:v>106</c:v>
                </c:pt>
                <c:pt idx="6">
                  <c:v>107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25.5</c:v>
                </c:pt>
                <c:pt idx="1">
                  <c:v>40.5</c:v>
                </c:pt>
                <c:pt idx="2">
                  <c:v>47.5</c:v>
                </c:pt>
                <c:pt idx="3">
                  <c:v>50</c:v>
                </c:pt>
                <c:pt idx="4">
                  <c:v>66.24</c:v>
                </c:pt>
                <c:pt idx="5">
                  <c:v>72</c:v>
                </c:pt>
                <c:pt idx="6">
                  <c:v>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b398cde-2e23-4893-9e4b-2cd6ef79186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6459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</a:rPr>
              <a:t>PFA 2025/2026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Automatisation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 Ventes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 Python d'analyse e-commerce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502920"/>
            <a:ext cx="320040" cy="3200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50292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Mazen</a:t>
            </a:r>
            <a:r>
              <a:rPr lang="en-GB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Mathlouthi </a:t>
            </a:r>
            <a:endParaRPr lang="en-GB" alt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37960" y="1252728"/>
            <a:ext cx="320040" cy="3200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25272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Firas</a:t>
            </a:r>
            <a:r>
              <a:rPr lang="en-GB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Dhahri </a:t>
            </a:r>
            <a:endParaRPr lang="en-GB" alt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37960" y="2002536"/>
            <a:ext cx="320040" cy="3200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002536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lang="en-GB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riem khiari</a:t>
            </a:r>
            <a:endParaRPr lang="en-GB" alt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Faculté des Sciences de Tunis — LMASD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80160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&amp; Objectifs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Présentation du projet et de l'équipe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280160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2618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Fonctionnalités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69164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que fait le script Python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514600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49631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du Projet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92608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des fichiers et modules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2316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514600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49631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Formules &amp; Calculs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92608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 Brut, Net, TVA, TTC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749040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 des Données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16052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Graphiques Matplotlib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749040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32120" y="373075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Résultats &amp; 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416052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qu'on a appris, limites, perspectives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Contexte &amp; Équipe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7548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du Projet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480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Projet de Fin d'Année — Matière : Logiciels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Faculté des Sciences de Tunis (LMASD)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d'un système de gestion des ventes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pour une entreprise de e-commerce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Objectif : Automatiser l'analyse financière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 ventes via un script Python complet.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49240" y="1143000"/>
            <a:ext cx="3429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13832" y="134416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3832" y="13441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1216152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Mazen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581912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Graphiques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2350008"/>
            <a:ext cx="3429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13832" y="2551176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255117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2423160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788920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produit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3557016"/>
            <a:ext cx="3429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13832" y="3758184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13832" y="375818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Z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3630168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Mariem</a:t>
            </a:r>
            <a:endParaRPr lang="en-GB" altLang="en-US" sz="1400" b="1" dirty="0">
              <a:solidFill>
                <a:srgbClr val="0F17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9360" y="39959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Génération 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 données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Fonctionnalités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426464"/>
            <a:ext cx="621792" cy="621792"/>
          </a:xfrm>
          <a:prstGeom prst="ellipse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42646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2728" y="128016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Génération 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52728" y="1664208"/>
            <a:ext cx="30175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Crée automatiquement ventes.csv avec 7 produits pré-définis (ID, Prix, Quantité, Remise)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426464"/>
            <a:ext cx="621792" cy="621792"/>
          </a:xfrm>
          <a:prstGeom prst="ellipse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2646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33288" y="128016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Calculs Financiers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33288" y="1664208"/>
            <a:ext cx="30175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Calcule CA Brut, CA Net, TVA (20%) et CA TTC pour chaque produit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2688336"/>
            <a:ext cx="621792" cy="621792"/>
          </a:xfrm>
          <a:prstGeom prst="ellipse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68833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2728" y="2542032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Affichage Résultats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52728" y="2926080"/>
            <a:ext cx="30175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Affiche le CA Total TTC de l'entreprise et identifie le produit le plus rentable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2688336"/>
            <a:ext cx="621792" cy="621792"/>
          </a:xfrm>
          <a:prstGeom prst="ellipse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68833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33288" y="2542032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Données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33288" y="2926080"/>
            <a:ext cx="30175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Exporte tous les résultats calculés dans resultats_final.csv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12464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" y="3950208"/>
            <a:ext cx="621792" cy="621792"/>
          </a:xfrm>
          <a:prstGeom prst="ellipse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950208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52728" y="3803904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52728" y="4187952"/>
            <a:ext cx="30175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Génère deux graphiques Matplotlib (barres et horizontal) sauvegardés en PNG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65192" y="3950208"/>
            <a:ext cx="621792" cy="621792"/>
          </a:xfrm>
          <a:prstGeom prst="ellipse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950208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33288" y="3803904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des erreurs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33288" y="4187952"/>
            <a:ext cx="30175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Valide les données : prix/quantité négatifs, remises invalides, lignes corrompues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Architecture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4358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 principal — 117 lignes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01952"/>
            <a:ext cx="7315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56816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ventes.csv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194560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Données générées automatiquement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15184"/>
            <a:ext cx="7315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70048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resultats_final.csv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2907792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Résultats exportés après calcul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28416"/>
            <a:ext cx="73152" cy="56692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83280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graphiques_ventes.png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621024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Graphiques générés (150 dpi)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41648"/>
            <a:ext cx="73152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96512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4334256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Dépendances Python du projet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1143000"/>
            <a:ext cx="3657600" cy="3749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18872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Fonctions Python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627632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generer_fichier_csv()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057400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calculer_resultats()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2487168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afficher_ca_total()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916936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identifier_top_produit()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3346704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exporter_resultats()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3776472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afficher_graphiques()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4206240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main()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Formules &amp; Calculs Financiers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9144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71016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 Brut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271016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Prix  ×  Quantité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271016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15.0 × 3 = 45.00 DT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9144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85416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 Net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185416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 Brut × (1 − Remise / 100)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185416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45.00 × (1 − 0.10) = 40.50 DT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71800"/>
            <a:ext cx="9144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99816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3099816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 Net  ×  0.20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099816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40.50 × 0.20 = 8.10 DT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86200"/>
            <a:ext cx="91440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14216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 TTC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4014216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 Net  +  TVA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4014216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40.50 + 8.10 = 48.60 DT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Taux TVA appliqué : 20%  |  Remises valides : 0% à 100%  |  Données rejetées si prix ou quantité &lt; 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Données des Produits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274320" y="1143000"/>
          <a:ext cx="8595360" cy="3474720"/>
        </p:xfrm>
        <a:graphic>
          <a:graphicData uri="http://schemas.openxmlformats.org/drawingml/2006/table">
            <a:tbl>
              <a:tblPr/>
              <a:tblGrid>
                <a:gridCol w="640080"/>
                <a:gridCol w="1051560"/>
                <a:gridCol w="914400"/>
                <a:gridCol w="822960"/>
                <a:gridCol w="1097280"/>
                <a:gridCol w="1097280"/>
                <a:gridCol w="1005840"/>
                <a:gridCol w="1097280"/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Prix (DT)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Quantité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Remise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 Brut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 Net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TVA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 TTC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15.00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45.00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40.50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8.10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48.60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25.00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47.50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9.50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57.00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60.00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25.50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5.10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30.60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18.00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72.00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66.24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13.25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79.49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45.00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90.00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72.00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14.40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86.40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12.50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75.00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75.00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15.00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90.00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Produit le plus rentable : ID 107  |  CA Net = 75.00 DT  |  CA TTC = 90.00 DT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Visualisation des Données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394960" y="1097280"/>
          <a:ext cx="3474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Graphiques générés par Matplotlib et sauvegardés dans graphiques_ventes.png (150 dpi)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Extrait du Code — main.py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calculer_resultats(chemin=FICHIER_IN):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63624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resultats = []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with open(chemin, "r", encoding="utf-8") as f: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reader = csv.DictReader(f)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51176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ligne in reader: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ca_brut = prix * quantite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ca_net  = ca_brut * (1 - remise / 100)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3872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tva     = ca_net * TVA_TAUX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6791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ca_ttc  = ca_net + tva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resultats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926080"/>
            <a:ext cx="3200400" cy="32004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463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212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que nous avons réalisé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 Python fonctionnel de bout en bout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671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167128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Calculs financiers automatisés (CA, TVA, remises)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614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761488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robuste des erreurs et données invalides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5584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 graphique avec Matplotlib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502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950208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Travail collaboratif entre 3 membres d'équipe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521208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Perspectives : Interface web · Base de données · Prédictions 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371600"/>
            <a:ext cx="2926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Merci !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989320" y="23774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 questions 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2926080"/>
            <a:ext cx="2194560" cy="365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06324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 : littlechineseboy/pfa-ventes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3436</Words>
  <Application>WPS Presentation</Application>
  <PresentationFormat>On-screen Show (16:9)</PresentationFormat>
  <Paragraphs>383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PFA - Automatisation des Ventes</dc:title>
  <dc:creator>PptxGenJS</dc:creator>
  <dc:subject>PptxGenJS Presentation</dc:subject>
  <cp:lastModifiedBy>Firas Dh</cp:lastModifiedBy>
  <cp:revision>3</cp:revision>
  <dcterms:created xsi:type="dcterms:W3CDTF">2026-05-06T09:51:00Z</dcterms:created>
  <dcterms:modified xsi:type="dcterms:W3CDTF">2026-05-06T09:55:58Z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B04FF8B2C4904F7A9054DD3A587F181D_12</vt:lpwstr>
  </property>
  <property fmtid="{D5CDD505-2E9C-101B-9397-08002B2CF9AE}" pid="3" name="KSOProductBuildVer">
    <vt:lpwstr>1033-12.1.0.25242</vt:lpwstr>
  </property>
</Properties>
</file>